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146" autoAdjust="0"/>
  </p:normalViewPr>
  <p:slideViewPr>
    <p:cSldViewPr>
      <p:cViewPr varScale="1">
        <p:scale>
          <a:sx n="121" d="100"/>
          <a:sy n="121" d="100"/>
        </p:scale>
        <p:origin x="-1344" y="-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39BC1-C62F-4E5E-AE15-E3327B7BFADF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93188-FE1F-4B29-98D8-107ABF808999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65621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Уважаема г-жо Директор, Уважаема комисия, уважаеми </a:t>
            </a:r>
            <a:r>
              <a:rPr lang="bg-BG" dirty="0" smtClean="0"/>
              <a:t>гости</a:t>
            </a:r>
            <a:r>
              <a:rPr lang="bg-BG" baseline="0" dirty="0" smtClean="0"/>
              <a:t> </a:t>
            </a:r>
            <a:r>
              <a:rPr lang="ru-RU" dirty="0" smtClean="0"/>
              <a:t>(ако има такива)</a:t>
            </a:r>
          </a:p>
          <a:p>
            <a:r>
              <a:rPr lang="ru-RU" dirty="0" smtClean="0"/>
              <a:t>Аз съм Мариела Стипцова</a:t>
            </a:r>
          </a:p>
          <a:p>
            <a:r>
              <a:rPr lang="ru-RU" dirty="0" smtClean="0"/>
              <a:t>Темата на моят дипломен проет е  „Django - концепция, общи принципи“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16423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е един от най-популярните и използвани уеб фреймуър</a:t>
            </a:r>
            <a:r>
              <a:rPr lang="bg-BG" dirty="0" smtClean="0"/>
              <a:t>ове</a:t>
            </a:r>
            <a:r>
              <a:rPr lang="ru-RU" dirty="0" smtClean="0"/>
              <a:t> за езика Python. С Django разработчиците много по-лесно и бързо изграждат завършени уеб приложения или цели уебсайтове, като получават в едно всичко необходимо: лесно изграждане на страници, интеграция на база данни, гъвкаво добавяне на функционалности, изграждане на форми, работа с админ-панел и други.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06791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За да започнем работа с Django, първо трябва да имаме инсталиран Python.</a:t>
            </a:r>
          </a:p>
          <a:p>
            <a:r>
              <a:rPr lang="ru-RU" dirty="0" smtClean="0"/>
              <a:t>След това инсталираме Django много лесно чрез pip:</a:t>
            </a:r>
            <a:r>
              <a:rPr lang="en-US" dirty="0" smtClean="0"/>
              <a:t> </a:t>
            </a:r>
            <a:r>
              <a:rPr lang="bg-BG" dirty="0" smtClean="0"/>
              <a:t>,,</a:t>
            </a:r>
            <a:r>
              <a:rPr lang="en-US" dirty="0" smtClean="0"/>
              <a:t>pip</a:t>
            </a:r>
            <a:r>
              <a:rPr lang="en-US" baseline="0" dirty="0" smtClean="0"/>
              <a:t> install Django</a:t>
            </a:r>
            <a:r>
              <a:rPr lang="bg-BG" baseline="0" dirty="0" smtClean="0"/>
              <a:t>‘‘</a:t>
            </a:r>
            <a:endParaRPr lang="ru-RU" dirty="0" smtClean="0"/>
          </a:p>
          <a:p>
            <a:r>
              <a:rPr lang="ru-RU" dirty="0" smtClean="0"/>
              <a:t>След инсталацията, с една команда може да създадем нов Django проект:</a:t>
            </a:r>
            <a:r>
              <a:rPr lang="en-US" dirty="0" smtClean="0"/>
              <a:t> </a:t>
            </a:r>
            <a:r>
              <a:rPr lang="en-US" dirty="0" err="1" smtClean="0"/>
              <a:t>django</a:t>
            </a:r>
            <a:r>
              <a:rPr lang="en-US" dirty="0" smtClean="0"/>
              <a:t>-admin </a:t>
            </a:r>
            <a:r>
              <a:rPr lang="en-US" dirty="0" err="1" smtClean="0"/>
              <a:t>startproject</a:t>
            </a:r>
            <a:r>
              <a:rPr lang="en-US" dirty="0" smtClean="0"/>
              <a:t> </a:t>
            </a:r>
            <a:r>
              <a:rPr lang="en-US" dirty="0" err="1" smtClean="0"/>
              <a:t>myblog</a:t>
            </a:r>
            <a:endParaRPr lang="bg-BG" dirty="0" smtClean="0"/>
          </a:p>
          <a:p>
            <a:r>
              <a:rPr lang="ru-RU" dirty="0" smtClean="0"/>
              <a:t>Тази команда създава специална папка с началните файлове и настройки за нашия проект. Django има много командни инструменти, които правят стартирането и управлението на уеб проект лесно, дори за начинаещи.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2724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следва така наречения модел Model-Template-View (MTV). </a:t>
            </a:r>
          </a:p>
          <a:p>
            <a:r>
              <a:rPr lang="ru-RU" dirty="0" smtClean="0"/>
              <a:t>•Model (Модел): Представлява структурата на данните – обектите и таблиците в базата данни, които използва приложението ни.</a:t>
            </a:r>
          </a:p>
          <a:p>
            <a:r>
              <a:rPr lang="ru-RU" dirty="0" smtClean="0"/>
              <a:t>•Template (Шаблон): Описва как изглеждат страниците и как се показва информацията на потребителя (HTML, CSS).</a:t>
            </a:r>
          </a:p>
          <a:p>
            <a:r>
              <a:rPr lang="ru-RU" dirty="0" smtClean="0"/>
              <a:t>•View (Изглед): Логиката, която обработва заявките на потребителя, взаимодейства с модела и връща правилно попълнен шаблон на браузъра.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1965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Под „проект“ в контекста на Django разбираме цялата система, която изграждаме – например един цял уебсайт.</a:t>
            </a:r>
          </a:p>
          <a:p>
            <a:r>
              <a:rPr lang="ru-RU" dirty="0" smtClean="0"/>
              <a:t>Когато изпълним django-admin startproject myblog, получаваме папка с името на проекта, в нея има още една папка със същото име (съдържаща основните настройки), както и няколко основни файла.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14622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осигурява вграден admin панел, който дава възможност на администратора на сайта да добавя, редактира и трие данни през уеб интерфейс.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788130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Django позволява лесно управление на статични файлове – CSS, изображения, JavaScript.</a:t>
            </a:r>
          </a:p>
          <a:p>
            <a:r>
              <a:rPr lang="ru-RU" dirty="0" smtClean="0"/>
              <a:t>Статичните файлове се държат в папка static/ във всяко приложение или на общо място.</a:t>
            </a:r>
          </a:p>
          <a:p>
            <a:r>
              <a:rPr lang="ru-RU" dirty="0" smtClean="0"/>
              <a:t>Медиите (качени от потребителите файлове) се управляват отделно, чрез настройките в settings.py.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55532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Сигурността е един от най-важните аспекти при разработката на уеб приложения. </a:t>
            </a:r>
            <a:r>
              <a:rPr lang="en-US" dirty="0" smtClean="0"/>
              <a:t>Django </a:t>
            </a:r>
            <a:r>
              <a:rPr lang="bg-BG" dirty="0" smtClean="0"/>
              <a:t>предоставя редица вградени механизми за защита срещу най-често срещаните уязвимости – като </a:t>
            </a:r>
            <a:r>
              <a:rPr lang="en-US" dirty="0" smtClean="0"/>
              <a:t>XSS (Cross Site Scripting) </a:t>
            </a:r>
            <a:r>
              <a:rPr lang="bg-BG" dirty="0" smtClean="0"/>
              <a:t>и </a:t>
            </a:r>
            <a:r>
              <a:rPr lang="en-US" dirty="0" smtClean="0"/>
              <a:t>SQL Injection.</a:t>
            </a:r>
          </a:p>
          <a:p>
            <a:r>
              <a:rPr lang="bg-BG" dirty="0" smtClean="0"/>
              <a:t>В проекта всички форми са защитени чрез </a:t>
            </a:r>
            <a:r>
              <a:rPr lang="en-US" dirty="0" smtClean="0"/>
              <a:t>CSRF </a:t>
            </a:r>
            <a:r>
              <a:rPr lang="bg-BG" dirty="0" smtClean="0"/>
              <a:t>токени, което предотвратява злонамерени заявки от външни сайтове.</a:t>
            </a:r>
          </a:p>
          <a:p>
            <a:r>
              <a:rPr lang="en-US" dirty="0" smtClean="0"/>
              <a:t>ORM </a:t>
            </a:r>
            <a:r>
              <a:rPr lang="bg-BG" dirty="0" smtClean="0"/>
              <a:t>системата на </a:t>
            </a:r>
            <a:r>
              <a:rPr lang="en-US" dirty="0" smtClean="0"/>
              <a:t>Django </a:t>
            </a:r>
            <a:r>
              <a:rPr lang="bg-BG" dirty="0" smtClean="0"/>
              <a:t>автоматично филтрира входните данни и не позволява изпълнение на опасни </a:t>
            </a:r>
            <a:r>
              <a:rPr lang="en-US" dirty="0" smtClean="0"/>
              <a:t>SQL </a:t>
            </a:r>
            <a:r>
              <a:rPr lang="bg-BG" dirty="0" smtClean="0"/>
              <a:t>заявки.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87988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По подразбиране Django използва SQLite, която е подходяща за малки проекти. За по-голяма реалистичност и подготовка за по-големи приложения, конфигурирах проекта да работи с MySQL база данни. Създадох нова база данни и потребител чрез PhpMyAdmin, инсталирах необходимия MySQL клиент и промених настройките в settings.py. След това изпълних миграциите, за да се създадат необходимите таблици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9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15943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Благодаря за вниманието!</a:t>
            </a:r>
          </a:p>
          <a:p>
            <a:r>
              <a:rPr lang="ru-RU" dirty="0" smtClean="0"/>
              <a:t>Ако имате въпроси съм готова да ви отговоря!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93188-FE1F-4B29-98D8-107ABF808999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2618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40064"/>
            <a:ext cx="4038600" cy="332613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394818"/>
            <a:ext cx="4041775" cy="491132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885950"/>
            <a:ext cx="4040188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85950"/>
            <a:ext cx="4041775" cy="288429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257300"/>
            <a:ext cx="2743200" cy="3429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257300"/>
            <a:ext cx="5111750" cy="3429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831058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4019827"/>
            <a:ext cx="155448" cy="116586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882747"/>
            <a:ext cx="2212848" cy="1186966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21589"/>
            <a:ext cx="2209800" cy="163449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4767263"/>
            <a:ext cx="609600" cy="273844"/>
          </a:xfrm>
        </p:spPr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4362450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4664869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85801"/>
            <a:ext cx="2057400" cy="3908822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1"/>
            <a:ext cx="6019800" cy="3908822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5358"/>
            <a:ext cx="9163050" cy="7810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5358"/>
            <a:ext cx="4762500" cy="47863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51610"/>
            <a:ext cx="8229600" cy="3291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43075E4-F4D0-4694-8BA4-DFB069B80F62}" type="datetimeFigureOut">
              <a:rPr lang="bg-BG" smtClean="0"/>
              <a:t>15.5.2025 г.</a:t>
            </a:fld>
            <a:endParaRPr lang="bg-BG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4767263"/>
            <a:ext cx="33528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4767263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AC78F765-AD31-46B2-90A6-5AA818518A73}" type="slidenum">
              <a:rPr lang="bg-BG" smtClean="0"/>
              <a:t>‹#›</a:t>
            </a:fld>
            <a:endParaRPr lang="bg-BG"/>
          </a:p>
        </p:txBody>
      </p:sp>
      <p:grpSp>
        <p:nvGrpSpPr>
          <p:cNvPr id="2" name="Group 1"/>
          <p:cNvGrpSpPr/>
          <p:nvPr/>
        </p:nvGrpSpPr>
        <p:grpSpPr>
          <a:xfrm>
            <a:off x="-19017" y="151806"/>
            <a:ext cx="9180548" cy="486918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4457" y="303498"/>
            <a:ext cx="7917504" cy="530628"/>
          </a:xfrm>
        </p:spPr>
        <p:txBody>
          <a:bodyPr>
            <a:noAutofit/>
          </a:bodyPr>
          <a:lstStyle/>
          <a:p>
            <a:pPr algn="ctr"/>
            <a:r>
              <a:rPr lang="bg-BG" sz="1400" b="0" dirty="0" smtClean="0">
                <a:solidFill>
                  <a:schemeClr val="bg1"/>
                </a:solidFill>
                <a:effectLst/>
              </a:rPr>
              <a:t>Държавен изпит за придобиване на трета степен на професионална квалификация – част по теория на професията</a:t>
            </a:r>
            <a:br>
              <a:rPr lang="bg-BG" sz="1400" b="0" dirty="0" smtClean="0">
                <a:solidFill>
                  <a:schemeClr val="bg1"/>
                </a:solidFill>
                <a:effectLst/>
              </a:rPr>
            </a:br>
            <a:r>
              <a:rPr lang="bg-BG" sz="1400" b="0" dirty="0" smtClean="0">
                <a:solidFill>
                  <a:schemeClr val="bg1"/>
                </a:solidFill>
                <a:effectLst/>
              </a:rPr>
              <a:t>по професия код 481030 ,, Приложен програмист‘‘</a:t>
            </a:r>
            <a:br>
              <a:rPr lang="bg-BG" sz="1400" b="0" dirty="0" smtClean="0">
                <a:solidFill>
                  <a:schemeClr val="bg1"/>
                </a:solidFill>
                <a:effectLst/>
              </a:rPr>
            </a:br>
            <a:r>
              <a:rPr lang="bg-BG" sz="1400" b="0" dirty="0" smtClean="0">
                <a:solidFill>
                  <a:schemeClr val="bg1"/>
                </a:solidFill>
                <a:effectLst/>
              </a:rPr>
              <a:t>специалност код 4810301 ,,Приложно програмиране‘‘</a:t>
            </a:r>
            <a:endParaRPr lang="bg-BG" sz="14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468560" y="1599642"/>
            <a:ext cx="7056784" cy="3543858"/>
          </a:xfrm>
        </p:spPr>
        <p:txBody>
          <a:bodyPr>
            <a:normAutofit fontScale="92500" lnSpcReduction="20000"/>
          </a:bodyPr>
          <a:lstStyle/>
          <a:p>
            <a:r>
              <a:rPr lang="bg-BG" sz="1800" dirty="0" smtClean="0"/>
              <a:t>Тема : </a:t>
            </a:r>
            <a:r>
              <a:rPr lang="en-US" sz="1800" dirty="0" smtClean="0"/>
              <a:t>Django ,</a:t>
            </a:r>
            <a:r>
              <a:rPr lang="bg-BG" sz="1800" dirty="0" smtClean="0"/>
              <a:t>концепция, общи принципи</a:t>
            </a:r>
          </a:p>
          <a:p>
            <a:r>
              <a:rPr lang="bg-BG" sz="1800" dirty="0"/>
              <a:t> </a:t>
            </a:r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endParaRPr lang="bg-BG" sz="1800" dirty="0"/>
          </a:p>
          <a:p>
            <a:endParaRPr lang="bg-BG" sz="1800" dirty="0" smtClean="0"/>
          </a:p>
          <a:p>
            <a:r>
              <a:rPr lang="bg-BG" sz="1800" dirty="0" smtClean="0"/>
              <a:t>      Дипломант: Мариела Стипцова</a:t>
            </a:r>
            <a:endParaRPr lang="bg-BG" sz="1800" dirty="0"/>
          </a:p>
        </p:txBody>
      </p:sp>
      <p:pic>
        <p:nvPicPr>
          <p:cNvPr id="5" name="Картина 2" descr="gotovo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6519" y="303498"/>
            <a:ext cx="516255" cy="514350"/>
          </a:xfrm>
          <a:prstGeom prst="rect">
            <a:avLst/>
          </a:prstGeo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318" y="1869672"/>
            <a:ext cx="4771930" cy="2538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82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bg-BG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Въведение в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bg-BG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1" y="1491630"/>
            <a:ext cx="7881331" cy="29682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49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bg-BG" sz="32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Инсталиране </a:t>
            </a:r>
            <a:r>
              <a:rPr lang="bg-BG" sz="32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стартиране на Django проект</a:t>
            </a:r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59" y="1451373"/>
            <a:ext cx="5572083" cy="32920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1457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627534"/>
            <a:ext cx="8229600" cy="1333846"/>
          </a:xfrm>
        </p:spPr>
        <p:txBody>
          <a:bodyPr>
            <a:normAutofit fontScale="90000"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bg-BG" sz="44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Основни принципи на Django</a:t>
            </a:r>
            <a:r>
              <a:rPr lang="bg-BG" b="1" cap="small" dirty="0"/>
              <a:t/>
            </a:r>
            <a:br>
              <a:rPr lang="bg-BG" b="1" cap="small" dirty="0"/>
            </a:br>
            <a:endParaRPr lang="bg-BG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383618"/>
            <a:ext cx="5256584" cy="2646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26023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38336" y="483518"/>
            <a:ext cx="8805664" cy="1909910"/>
          </a:xfrm>
        </p:spPr>
        <p:txBody>
          <a:bodyPr>
            <a:normAutofit fontScale="90000"/>
          </a:bodyPr>
          <a:lstStyle/>
          <a:p>
            <a:r>
              <a:rPr lang="bg-BG" dirty="0" smtClean="0"/>
              <a:t/>
            </a:r>
            <a:br>
              <a:rPr lang="bg-BG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dirty="0"/>
              <a:t/>
            </a:r>
            <a:br>
              <a:rPr lang="bg-BG" dirty="0"/>
            </a:br>
            <a:r>
              <a:rPr lang="bg-BG" dirty="0" smtClean="0"/>
              <a:t/>
            </a:r>
            <a:br>
              <a:rPr lang="bg-BG" dirty="0" smtClean="0"/>
            </a:br>
            <a:r>
              <a:rPr lang="bg-BG" b="1" cap="small" dirty="0"/>
              <a:t/>
            </a:r>
            <a:br>
              <a:rPr lang="bg-BG" b="1" cap="small" dirty="0"/>
            </a:br>
            <a:r>
              <a:rPr lang="bg-BG" sz="4000" b="1" cap="small" dirty="0" smtClean="0"/>
              <a:t>                                                             </a:t>
            </a:r>
            <a:r>
              <a:rPr lang="ru-RU" sz="40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40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40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</a:t>
            </a:r>
            <a:r>
              <a:rPr lang="ru-RU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Django проект и приложения</a:t>
            </a:r>
            <a:r>
              <a:rPr lang="ru-RU" b="1" cap="small" dirty="0"/>
              <a:t/>
            </a:r>
            <a:br>
              <a:rPr lang="ru-RU" b="1" cap="small" dirty="0"/>
            </a:br>
            <a:endParaRPr lang="bg-BG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205" y="1689895"/>
            <a:ext cx="7449590" cy="2815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3863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1560" y="483518"/>
            <a:ext cx="8229600" cy="154987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6.</a:t>
            </a:r>
            <a:r>
              <a:rPr lang="bg-BG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Административен панел</a:t>
            </a:r>
            <a:r>
              <a:rPr lang="bg-BG" b="1" cap="small" dirty="0"/>
              <a:t/>
            </a:r>
            <a:br>
              <a:rPr lang="bg-BG" b="1" cap="small" dirty="0"/>
            </a:br>
            <a:endParaRPr lang="bg-BG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491630"/>
            <a:ext cx="7154273" cy="27543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46657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9552" y="123478"/>
            <a:ext cx="8229600" cy="2125934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</a:t>
            </a:r>
            <a:r>
              <a:rPr lang="bg-BG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Работа със статични файлове и медия</a:t>
            </a:r>
            <a:br>
              <a:rPr lang="bg-BG" sz="40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363" y="1604158"/>
            <a:ext cx="7335274" cy="2986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438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11560" y="411510"/>
            <a:ext cx="8075240" cy="857250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bg-BG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Сигурност на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5959" y="1451373"/>
            <a:ext cx="5572083" cy="32920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897941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bg-BG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база данни</a:t>
            </a:r>
            <a:endParaRPr lang="bg-BG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1599" y="1451373"/>
            <a:ext cx="7960802" cy="329207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8325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1563638"/>
            <a:ext cx="8305800" cy="936104"/>
          </a:xfrm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ctr"/>
            <a:r>
              <a:rPr lang="bg-BG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Благодаря Ви за вниманието! </a:t>
            </a:r>
            <a:endParaRPr lang="bg-BG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771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112</TotalTime>
  <Words>598</Words>
  <Application>Microsoft Office PowerPoint</Application>
  <PresentationFormat>On-screen Show (16:9)</PresentationFormat>
  <Paragraphs>57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Flow</vt:lpstr>
      <vt:lpstr>Държавен изпит за придобиване на трета степен на професионална квалификация – част по теория на професията по професия код 481030 ,, Приложен програмист‘‘ специалност код 4810301 ,,Приложно програмиране‘‘</vt:lpstr>
      <vt:lpstr>1.Въведение в Django</vt:lpstr>
      <vt:lpstr>2.Инсталиране и стартиране на Django проект</vt:lpstr>
      <vt:lpstr>3. Основни принципи на Django </vt:lpstr>
      <vt:lpstr>                                                                   5.Структура на Django проект и приложения </vt:lpstr>
      <vt:lpstr>6. Административен панел </vt:lpstr>
      <vt:lpstr>7. Работа със статични файлове и медия </vt:lpstr>
      <vt:lpstr>8. Сигурност на Django</vt:lpstr>
      <vt:lpstr>9.Работа с база данни</vt:lpstr>
      <vt:lpstr>Благодаря Ви за вниманието!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Държавен изпит за придобиване на трета степен на професионална квалификация – част по теория на професиятая</dc:title>
  <dc:creator>Admin</dc:creator>
  <cp:lastModifiedBy>Admin</cp:lastModifiedBy>
  <cp:revision>11</cp:revision>
  <dcterms:created xsi:type="dcterms:W3CDTF">2025-05-09T07:15:43Z</dcterms:created>
  <dcterms:modified xsi:type="dcterms:W3CDTF">2025-05-15T09:52:41Z</dcterms:modified>
</cp:coreProperties>
</file>