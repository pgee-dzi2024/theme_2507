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146" autoAdjust="0"/>
  </p:normalViewPr>
  <p:slideViewPr>
    <p:cSldViewPr>
      <p:cViewPr varScale="1">
        <p:scale>
          <a:sx n="121" d="100"/>
          <a:sy n="121" d="100"/>
        </p:scale>
        <p:origin x="-1344" y="-9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C39BC1-C62F-4E5E-AE15-E3327B7BFADF}" type="datetimeFigureOut">
              <a:rPr lang="bg-BG" smtClean="0"/>
              <a:t>15.5.2025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093188-FE1F-4B29-98D8-107ABF80899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65621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 г-жо Директор, Уважаема комисия, уважаеми </a:t>
            </a:r>
            <a:r>
              <a:rPr lang="bg-BG" dirty="0" smtClean="0"/>
              <a:t>гости</a:t>
            </a:r>
            <a:r>
              <a:rPr lang="bg-BG" baseline="0" dirty="0" smtClean="0"/>
              <a:t> </a:t>
            </a:r>
            <a:r>
              <a:rPr lang="ru-RU" dirty="0" smtClean="0"/>
              <a:t>(ако има такива)</a:t>
            </a:r>
          </a:p>
          <a:p>
            <a:r>
              <a:rPr lang="ru-RU" dirty="0" smtClean="0"/>
              <a:t>Аз съм Мариела Стипцова</a:t>
            </a:r>
          </a:p>
          <a:p>
            <a:r>
              <a:rPr lang="ru-RU" dirty="0" smtClean="0"/>
              <a:t>Темата на моят дипломен проет е  „Django - концепция, общи принципи“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093188-FE1F-4B29-98D8-107ABF808999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164234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Django е един от най-популярните и използвани уеб фреймуър</a:t>
            </a:r>
            <a:r>
              <a:rPr lang="bg-BG" dirty="0" smtClean="0"/>
              <a:t>ове</a:t>
            </a:r>
            <a:r>
              <a:rPr lang="ru-RU" dirty="0" smtClean="0"/>
              <a:t> за езика Python. С Django разработчиците много по-лесно и бързо изграждат завършени уеб приложения или цели уебсайтове, като получават в едно всичко необходимо: лесно изграждане на страници, интеграция на база данни, гъвкаво добавяне на функционалности, изграждане на форми, работа с админ-панел и други.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093188-FE1F-4B29-98D8-107ABF808999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067915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За да започнем работа с Django, първо трябва да имаме инсталиран Python.</a:t>
            </a:r>
          </a:p>
          <a:p>
            <a:r>
              <a:rPr lang="ru-RU" dirty="0" smtClean="0"/>
              <a:t>След това инсталираме Django много лесно чрез pip:</a:t>
            </a:r>
            <a:r>
              <a:rPr lang="en-US" dirty="0" smtClean="0"/>
              <a:t> </a:t>
            </a:r>
            <a:r>
              <a:rPr lang="bg-BG" dirty="0" smtClean="0"/>
              <a:t>,,</a:t>
            </a:r>
            <a:r>
              <a:rPr lang="en-US" dirty="0" smtClean="0"/>
              <a:t>pip</a:t>
            </a:r>
            <a:r>
              <a:rPr lang="en-US" baseline="0" dirty="0" smtClean="0"/>
              <a:t> install Django</a:t>
            </a:r>
            <a:r>
              <a:rPr lang="bg-BG" baseline="0" dirty="0" smtClean="0"/>
              <a:t>‘‘</a:t>
            </a:r>
            <a:endParaRPr lang="ru-RU" dirty="0" smtClean="0"/>
          </a:p>
          <a:p>
            <a:r>
              <a:rPr lang="ru-RU" dirty="0" smtClean="0"/>
              <a:t>След инсталацията, с една команда може да създадем нов Django проект:</a:t>
            </a:r>
            <a:r>
              <a:rPr lang="en-US" dirty="0" smtClean="0"/>
              <a:t> </a:t>
            </a:r>
            <a:r>
              <a:rPr lang="en-US" dirty="0" err="1" smtClean="0"/>
              <a:t>django</a:t>
            </a:r>
            <a:r>
              <a:rPr lang="en-US" dirty="0" smtClean="0"/>
              <a:t>-admin </a:t>
            </a:r>
            <a:r>
              <a:rPr lang="en-US" dirty="0" err="1" smtClean="0"/>
              <a:t>startproject</a:t>
            </a:r>
            <a:r>
              <a:rPr lang="en-US" dirty="0" smtClean="0"/>
              <a:t> </a:t>
            </a:r>
            <a:r>
              <a:rPr lang="en-US" dirty="0" err="1" smtClean="0"/>
              <a:t>myblog</a:t>
            </a:r>
            <a:endParaRPr lang="bg-BG" dirty="0" smtClean="0"/>
          </a:p>
          <a:p>
            <a:r>
              <a:rPr lang="ru-RU" dirty="0" smtClean="0"/>
              <a:t>Тази команда създава специална папка с началните файлове и настройки за нашия проект. Django има много командни инструменти, които правят стартирането и управлението на уеб проект лесно, дори за начинаещи.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093188-FE1F-4B29-98D8-107ABF808999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627243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Django следва така наречения модел Model-Template-View (MTV). </a:t>
            </a:r>
          </a:p>
          <a:p>
            <a:r>
              <a:rPr lang="ru-RU" dirty="0" smtClean="0"/>
              <a:t>•Model (Модел): Представлява структурата на данните – обектите и таблиците в базата данни, които използва приложението ни.</a:t>
            </a:r>
          </a:p>
          <a:p>
            <a:r>
              <a:rPr lang="ru-RU" dirty="0" smtClean="0"/>
              <a:t>•Template (Шаблон): Описва как изглеждат страниците и как се показва информацията на потребителя (HTML, CSS).</a:t>
            </a:r>
          </a:p>
          <a:p>
            <a:r>
              <a:rPr lang="ru-RU" dirty="0" smtClean="0"/>
              <a:t>•View (Изглед): Логиката, която обработва заявките на потребителя, взаимодейства с модела и връща правилно попълнен шаблон на браузъра.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093188-FE1F-4B29-98D8-107ABF808999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019652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Под „проект“ в контекста на Django разбираме цялата система, която изграждаме – например един цял уебсайт.</a:t>
            </a:r>
          </a:p>
          <a:p>
            <a:r>
              <a:rPr lang="ru-RU" dirty="0" smtClean="0"/>
              <a:t>Когато изпълним django-admin startproject myblog, получаваме папка с името на проекта, в нея има още една папка със същото име (съдържаща основните настройки), както и няколко основни файла.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093188-FE1F-4B29-98D8-107ABF808999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146222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Django осигурява вграден admin панел, който дава възможност на администратора на сайта да добавя, редактира и трие данни през уеб интерфейс.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093188-FE1F-4B29-98D8-107ABF808999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788130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Django позволява лесно управление на статични файлове – CSS, изображения, JavaScript.</a:t>
            </a:r>
          </a:p>
          <a:p>
            <a:r>
              <a:rPr lang="ru-RU" dirty="0" smtClean="0"/>
              <a:t>Статичните файлове се държат в папка static/ във всяко приложение или на общо място.</a:t>
            </a:r>
          </a:p>
          <a:p>
            <a:r>
              <a:rPr lang="ru-RU" dirty="0" smtClean="0"/>
              <a:t>Медиите (качени от потребителите файлове) се управляват отделно, чрез настройките в settings.py.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093188-FE1F-4B29-98D8-107ABF808999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555320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Сигурността е един от най-важните аспекти при разработката на уеб приложения. </a:t>
            </a:r>
            <a:r>
              <a:rPr lang="en-US" dirty="0" smtClean="0"/>
              <a:t>Django </a:t>
            </a:r>
            <a:r>
              <a:rPr lang="bg-BG" dirty="0" smtClean="0"/>
              <a:t>предоставя редица вградени механизми за защита срещу най-често срещаните уязвимости – като </a:t>
            </a:r>
            <a:r>
              <a:rPr lang="en-US" dirty="0" smtClean="0"/>
              <a:t>XSS (Cross Site Scripting) </a:t>
            </a:r>
            <a:r>
              <a:rPr lang="bg-BG" dirty="0" smtClean="0"/>
              <a:t>и </a:t>
            </a:r>
            <a:r>
              <a:rPr lang="en-US" dirty="0" smtClean="0"/>
              <a:t>SQL Injection.</a:t>
            </a:r>
          </a:p>
          <a:p>
            <a:r>
              <a:rPr lang="bg-BG" dirty="0" smtClean="0"/>
              <a:t>В проекта всички форми са защитени чрез </a:t>
            </a:r>
            <a:r>
              <a:rPr lang="en-US" dirty="0" smtClean="0"/>
              <a:t>CSRF </a:t>
            </a:r>
            <a:r>
              <a:rPr lang="bg-BG" dirty="0" smtClean="0"/>
              <a:t>токени, което предотвратява злонамерени заявки от външни сайтове.</a:t>
            </a:r>
          </a:p>
          <a:p>
            <a:r>
              <a:rPr lang="en-US" dirty="0" smtClean="0"/>
              <a:t>ORM </a:t>
            </a:r>
            <a:r>
              <a:rPr lang="bg-BG" dirty="0" smtClean="0"/>
              <a:t>системата на </a:t>
            </a:r>
            <a:r>
              <a:rPr lang="en-US" dirty="0" smtClean="0"/>
              <a:t>Django </a:t>
            </a:r>
            <a:r>
              <a:rPr lang="bg-BG" dirty="0" smtClean="0"/>
              <a:t>автоматично филтрира входните данни и не позволява изпълнение на опасни </a:t>
            </a:r>
            <a:r>
              <a:rPr lang="en-US" dirty="0" smtClean="0"/>
              <a:t>SQL </a:t>
            </a:r>
            <a:r>
              <a:rPr lang="bg-BG" dirty="0" smtClean="0"/>
              <a:t>заявки.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093188-FE1F-4B29-98D8-107ABF808999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879881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По подразбиране Django използва SQLite, която е подходяща за малки проекти. За по-голяма реалистичност и подготовка за по-големи приложения, конфигурирах проекта да работи с MySQL база данни. Създадох нова база данни и потребител чрез PhpMyAdmin, инсталирах необходимия MySQL клиент и промених настройките в settings.py. След това изпълних миграциите, за да се създадат необходимите таблици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093188-FE1F-4B29-98D8-107ABF808999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159434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Благодаря за вниманието!</a:t>
            </a:r>
          </a:p>
          <a:p>
            <a:r>
              <a:rPr lang="ru-RU" dirty="0" smtClean="0"/>
              <a:t>Ако имате въпроси съм готова да ви отговоря!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093188-FE1F-4B29-98D8-107ABF808999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2618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533400" y="1028700"/>
            <a:ext cx="7851648" cy="1371600"/>
          </a:xfrm>
          <a:ln>
            <a:noFill/>
          </a:ln>
        </p:spPr>
        <p:txBody>
          <a:bodyPr vert="horz" tIns="0" rIns="18288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533400" y="2421402"/>
            <a:ext cx="7854696" cy="131445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075E4-F4D0-4694-8BA4-DFB069B80F62}" type="datetimeFigureOut">
              <a:rPr lang="bg-BG" smtClean="0"/>
              <a:t>15.5.2025 г.</a:t>
            </a:fld>
            <a:endParaRPr lang="bg-BG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8F765-AD31-46B2-90A6-5AA818518A73}" type="slidenum">
              <a:rPr lang="bg-BG" smtClean="0"/>
              <a:t>‹#›</a:t>
            </a:fld>
            <a:endParaRPr lang="bg-BG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075E4-F4D0-4694-8BA4-DFB069B80F62}" type="datetimeFigureOut">
              <a:rPr lang="bg-BG" smtClean="0"/>
              <a:t>15.5.2025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8F765-AD31-46B2-90A6-5AA818518A73}" type="slidenum">
              <a:rPr lang="bg-BG" smtClean="0"/>
              <a:t>‹#›</a:t>
            </a:fld>
            <a:endParaRPr lang="bg-BG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2" y="987552"/>
            <a:ext cx="7772400" cy="1021842"/>
          </a:xfrm>
          <a:ln>
            <a:noFill/>
          </a:ln>
        </p:spPr>
        <p:txBody>
          <a:bodyPr vert="horz" tIns="0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52" y="2028498"/>
            <a:ext cx="7772400" cy="1132284"/>
          </a:xfrm>
        </p:spPr>
        <p:txBody>
          <a:bodyPr lIns="45720" rIns="45720" anchor="t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075E4-F4D0-4694-8BA4-DFB069B80F62}" type="datetimeFigureOut">
              <a:rPr lang="bg-BG" smtClean="0"/>
              <a:t>15.5.2025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8F765-AD31-46B2-90A6-5AA818518A73}" type="slidenum">
              <a:rPr lang="bg-BG" smtClean="0"/>
              <a:t>‹#›</a:t>
            </a:fld>
            <a:endParaRPr lang="bg-BG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28066"/>
            <a:ext cx="8229600" cy="857250"/>
          </a:xfrm>
        </p:spPr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40064"/>
            <a:ext cx="4038600" cy="332613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40064"/>
            <a:ext cx="4038600" cy="332613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075E4-F4D0-4694-8BA4-DFB069B80F62}" type="datetimeFigureOut">
              <a:rPr lang="bg-BG" smtClean="0"/>
              <a:t>15.5.2025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8F765-AD31-46B2-90A6-5AA818518A73}" type="slidenum">
              <a:rPr lang="bg-BG" smtClean="0"/>
              <a:t>‹#›</a:t>
            </a:fld>
            <a:endParaRPr lang="bg-BG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28066"/>
            <a:ext cx="8229600" cy="857250"/>
          </a:xfrm>
        </p:spPr>
        <p:txBody>
          <a:bodyPr tIns="45720" anchor="b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436"/>
            <a:ext cx="4040188" cy="494514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1394818"/>
            <a:ext cx="4041775" cy="491132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885950"/>
            <a:ext cx="4040188" cy="288429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85950"/>
            <a:ext cx="4041775" cy="288429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075E4-F4D0-4694-8BA4-DFB069B80F62}" type="datetimeFigureOut">
              <a:rPr lang="bg-BG" smtClean="0"/>
              <a:t>15.5.2025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8F765-AD31-46B2-90A6-5AA818518A73}" type="slidenum">
              <a:rPr lang="bg-BG" smtClean="0"/>
              <a:t>‹#›</a:t>
            </a:fld>
            <a:endParaRPr lang="bg-BG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28066"/>
            <a:ext cx="8305800" cy="857250"/>
          </a:xfrm>
        </p:spPr>
        <p:txBody>
          <a:bodyPr vert="horz" tIns="45720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075E4-F4D0-4694-8BA4-DFB069B80F62}" type="datetimeFigureOut">
              <a:rPr lang="bg-BG" smtClean="0"/>
              <a:t>15.5.2025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8F765-AD31-46B2-90A6-5AA818518A73}" type="slidenum">
              <a:rPr lang="bg-BG" smtClean="0"/>
              <a:t>‹#›</a:t>
            </a:fld>
            <a:endParaRPr lang="bg-BG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075E4-F4D0-4694-8BA4-DFB069B80F62}" type="datetimeFigureOut">
              <a:rPr lang="bg-BG" smtClean="0"/>
              <a:t>15.5.2025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8F765-AD31-46B2-90A6-5AA818518A73}" type="slidenum">
              <a:rPr lang="bg-BG" smtClean="0"/>
              <a:t>‹#›</a:t>
            </a:fld>
            <a:endParaRPr lang="bg-BG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5764"/>
            <a:ext cx="2743200" cy="871538"/>
          </a:xfrm>
        </p:spPr>
        <p:txBody>
          <a:bodyPr lIns="0" anchor="b"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85800" y="1257300"/>
            <a:ext cx="2743200" cy="3429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3575050" y="1257300"/>
            <a:ext cx="5111750" cy="3429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075E4-F4D0-4694-8BA4-DFB069B80F62}" type="datetimeFigureOut">
              <a:rPr lang="bg-BG" smtClean="0"/>
              <a:t>15.5.2025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8F765-AD31-46B2-90A6-5AA818518A73}" type="slidenum">
              <a:rPr lang="bg-BG" smtClean="0"/>
              <a:t>‹#›</a:t>
            </a:fld>
            <a:endParaRPr lang="bg-BG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nip and Round Single Corner Rectangle 8"/>
          <p:cNvSpPr/>
          <p:nvPr/>
        </p:nvSpPr>
        <p:spPr>
          <a:xfrm rot="420000" flipV="1">
            <a:off x="3165753" y="831058"/>
            <a:ext cx="5257800" cy="30861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ight Triangle 11"/>
          <p:cNvSpPr/>
          <p:nvPr/>
        </p:nvSpPr>
        <p:spPr>
          <a:xfrm rot="420000" flipV="1">
            <a:off x="8004134" y="4019827"/>
            <a:ext cx="155448" cy="116586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882747"/>
            <a:ext cx="2212848" cy="1186966"/>
          </a:xfrm>
        </p:spPr>
        <p:txBody>
          <a:bodyPr vert="horz" lIns="45720" tIns="45720" rIns="45720" bIns="45720" anchor="b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2121589"/>
            <a:ext cx="2209800" cy="1634490"/>
          </a:xfrm>
        </p:spPr>
        <p:txBody>
          <a:bodyPr lIns="64008" rIns="45720" bIns="45720" anchor="t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075E4-F4D0-4694-8BA4-DFB069B80F62}" type="datetimeFigureOut">
              <a:rPr lang="bg-BG" smtClean="0"/>
              <a:t>15.5.2025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77200" y="4767263"/>
            <a:ext cx="609600" cy="273844"/>
          </a:xfrm>
        </p:spPr>
        <p:txBody>
          <a:bodyPr/>
          <a:lstStyle/>
          <a:p>
            <a:fld id="{AC78F765-AD31-46B2-90A6-5AA818518A73}" type="slidenum">
              <a:rPr lang="bg-BG" smtClean="0"/>
              <a:t>‹#›</a:t>
            </a:fld>
            <a:endParaRPr lang="bg-BG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rot="420000">
            <a:off x="3485793" y="899638"/>
            <a:ext cx="4617720" cy="294894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10" name="Freeform 9"/>
          <p:cNvSpPr>
            <a:spLocks/>
          </p:cNvSpPr>
          <p:nvPr/>
        </p:nvSpPr>
        <p:spPr bwMode="auto">
          <a:xfrm flipV="1">
            <a:off x="-9525" y="4362450"/>
            <a:ext cx="9163050" cy="7810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Freeform 10"/>
          <p:cNvSpPr>
            <a:spLocks/>
          </p:cNvSpPr>
          <p:nvPr/>
        </p:nvSpPr>
        <p:spPr bwMode="auto">
          <a:xfrm flipV="1">
            <a:off x="4381500" y="4664869"/>
            <a:ext cx="4762500" cy="478631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075E4-F4D0-4694-8BA4-DFB069B80F62}" type="datetimeFigureOut">
              <a:rPr lang="bg-BG" smtClean="0"/>
              <a:t>15.5.2025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8F765-AD31-46B2-90A6-5AA818518A73}" type="slidenum">
              <a:rPr lang="bg-BG" smtClean="0"/>
              <a:t>‹#›</a:t>
            </a:fld>
            <a:endParaRPr lang="bg-BG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85801"/>
            <a:ext cx="2057400" cy="3908822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685801"/>
            <a:ext cx="6019800" cy="3908822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075E4-F4D0-4694-8BA4-DFB069B80F62}" type="datetimeFigureOut">
              <a:rPr lang="bg-BG" smtClean="0"/>
              <a:t>15.5.2025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8F765-AD31-46B2-90A6-5AA818518A73}" type="slidenum">
              <a:rPr lang="bg-BG" smtClean="0"/>
              <a:t>‹#›</a:t>
            </a:fld>
            <a:endParaRPr lang="bg-BG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>
            <a:spLocks/>
          </p:cNvSpPr>
          <p:nvPr/>
        </p:nvSpPr>
        <p:spPr bwMode="auto">
          <a:xfrm>
            <a:off x="-9525" y="-5358"/>
            <a:ext cx="9163050" cy="7810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381500" y="-5358"/>
            <a:ext cx="4762500" cy="478631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528066"/>
            <a:ext cx="8229600" cy="857250"/>
          </a:xfrm>
          <a:prstGeom prst="rect">
            <a:avLst/>
          </a:prstGeom>
        </p:spPr>
        <p:txBody>
          <a:bodyPr vert="horz" lIns="0" rIns="0" bIns="0" anchor="b">
            <a:normAutofit/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51610"/>
            <a:ext cx="8229600" cy="329184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543075E4-F4D0-4694-8BA4-DFB069B80F62}" type="datetimeFigureOut">
              <a:rPr lang="bg-BG" smtClean="0"/>
              <a:t>15.5.2025 г.</a:t>
            </a:fld>
            <a:endParaRPr lang="bg-BG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2667000" y="4767263"/>
            <a:ext cx="3352800" cy="273844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7924800" y="4767263"/>
            <a:ext cx="762000" cy="273844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AC78F765-AD31-46B2-90A6-5AA818518A73}" type="slidenum">
              <a:rPr lang="bg-BG" smtClean="0"/>
              <a:t>‹#›</a:t>
            </a:fld>
            <a:endParaRPr lang="bg-BG"/>
          </a:p>
        </p:txBody>
      </p:sp>
      <p:grpSp>
        <p:nvGrpSpPr>
          <p:cNvPr id="2" name="Group 1"/>
          <p:cNvGrpSpPr/>
          <p:nvPr/>
        </p:nvGrpSpPr>
        <p:grpSpPr>
          <a:xfrm>
            <a:off x="-19017" y="151806"/>
            <a:ext cx="9180548" cy="486918"/>
            <a:chOff x="-19045" y="216550"/>
            <a:chExt cx="9180548" cy="649224"/>
          </a:xfrm>
        </p:grpSpPr>
        <p:sp>
          <p:nvSpPr>
            <p:cNvPr id="12" name="Freeform 11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3" name="Freeform 12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50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3"/>
        </a:buClr>
        <a:buSzPct val="9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46888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888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210312" algn="l" rtl="0" eaLnBrk="1" latinLnBrk="0" hangingPunct="1">
        <a:spcBef>
          <a:spcPct val="20000"/>
        </a:spcBef>
        <a:buClr>
          <a:schemeClr val="accent3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210312" algn="l" rtl="0" eaLnBrk="1" latinLnBrk="0" hangingPunct="1">
        <a:spcBef>
          <a:spcPct val="20000"/>
        </a:spcBef>
        <a:buClr>
          <a:schemeClr val="accent4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4457" y="303498"/>
            <a:ext cx="7917504" cy="530628"/>
          </a:xfrm>
        </p:spPr>
        <p:txBody>
          <a:bodyPr>
            <a:noAutofit/>
          </a:bodyPr>
          <a:lstStyle/>
          <a:p>
            <a:pPr algn="ctr"/>
            <a:r>
              <a:rPr lang="bg-BG" sz="1400" b="0" dirty="0" smtClean="0">
                <a:solidFill>
                  <a:schemeClr val="bg1"/>
                </a:solidFill>
                <a:effectLst/>
              </a:rPr>
              <a:t>Държавен изпит за придобиване на трета степен на професионална квалификация – част по теория на професията</a:t>
            </a:r>
            <a:br>
              <a:rPr lang="bg-BG" sz="1400" b="0" dirty="0" smtClean="0">
                <a:solidFill>
                  <a:schemeClr val="bg1"/>
                </a:solidFill>
                <a:effectLst/>
              </a:rPr>
            </a:br>
            <a:r>
              <a:rPr lang="bg-BG" sz="1400" b="0" dirty="0" smtClean="0">
                <a:solidFill>
                  <a:schemeClr val="bg1"/>
                </a:solidFill>
                <a:effectLst/>
              </a:rPr>
              <a:t>по професия код 481030 ,, Приложен програмист‘‘</a:t>
            </a:r>
            <a:br>
              <a:rPr lang="bg-BG" sz="1400" b="0" dirty="0" smtClean="0">
                <a:solidFill>
                  <a:schemeClr val="bg1"/>
                </a:solidFill>
                <a:effectLst/>
              </a:rPr>
            </a:br>
            <a:r>
              <a:rPr lang="bg-BG" sz="1400" b="0" dirty="0" smtClean="0">
                <a:solidFill>
                  <a:schemeClr val="bg1"/>
                </a:solidFill>
                <a:effectLst/>
              </a:rPr>
              <a:t>специалност код 4810301 ,,Приложно програмиране‘‘</a:t>
            </a:r>
            <a:endParaRPr lang="bg-BG" sz="1400" b="0" dirty="0">
              <a:solidFill>
                <a:schemeClr val="bg1"/>
              </a:solidFill>
              <a:effectLst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-468560" y="1599642"/>
            <a:ext cx="7056784" cy="3543858"/>
          </a:xfrm>
        </p:spPr>
        <p:txBody>
          <a:bodyPr>
            <a:normAutofit fontScale="92500" lnSpcReduction="20000"/>
          </a:bodyPr>
          <a:lstStyle/>
          <a:p>
            <a:r>
              <a:rPr lang="bg-BG" sz="1800" dirty="0" smtClean="0"/>
              <a:t>Тема : </a:t>
            </a:r>
            <a:r>
              <a:rPr lang="en-US" sz="1800" dirty="0" smtClean="0"/>
              <a:t>Django ,</a:t>
            </a:r>
            <a:r>
              <a:rPr lang="bg-BG" sz="1800" dirty="0" smtClean="0"/>
              <a:t>концепция, общи принципи</a:t>
            </a:r>
          </a:p>
          <a:p>
            <a:r>
              <a:rPr lang="bg-BG" sz="1800" dirty="0"/>
              <a:t> </a:t>
            </a:r>
            <a:endParaRPr lang="bg-BG" sz="1800" dirty="0" smtClean="0"/>
          </a:p>
          <a:p>
            <a:endParaRPr lang="bg-BG" sz="1800" dirty="0"/>
          </a:p>
          <a:p>
            <a:endParaRPr lang="bg-BG" sz="1800" dirty="0" smtClean="0"/>
          </a:p>
          <a:p>
            <a:endParaRPr lang="bg-BG" sz="1800" dirty="0"/>
          </a:p>
          <a:p>
            <a:endParaRPr lang="bg-BG" sz="1800" dirty="0" smtClean="0"/>
          </a:p>
          <a:p>
            <a:endParaRPr lang="bg-BG" sz="1800" dirty="0"/>
          </a:p>
          <a:p>
            <a:endParaRPr lang="bg-BG" sz="1800" dirty="0" smtClean="0"/>
          </a:p>
          <a:p>
            <a:endParaRPr lang="bg-BG" sz="1800" dirty="0"/>
          </a:p>
          <a:p>
            <a:endParaRPr lang="bg-BG" sz="1800" dirty="0" smtClean="0"/>
          </a:p>
          <a:p>
            <a:endParaRPr lang="bg-BG" sz="1800" dirty="0"/>
          </a:p>
          <a:p>
            <a:endParaRPr lang="bg-BG" sz="1800" dirty="0" smtClean="0"/>
          </a:p>
          <a:p>
            <a:r>
              <a:rPr lang="bg-BG" sz="1800" dirty="0" smtClean="0"/>
              <a:t>      Дипломант: Мариела Стипцова</a:t>
            </a:r>
            <a:endParaRPr lang="bg-BG" sz="1800" dirty="0"/>
          </a:p>
        </p:txBody>
      </p:sp>
      <p:pic>
        <p:nvPicPr>
          <p:cNvPr id="5" name="Картина 2" descr="gotovo3"/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6519" y="303498"/>
            <a:ext cx="516255" cy="514350"/>
          </a:xfrm>
          <a:prstGeom prst="rect">
            <a:avLst/>
          </a:prstGeom>
          <a:noFill/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318" y="1869672"/>
            <a:ext cx="4771930" cy="2538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882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bg-BG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Въведение в </a:t>
            </a:r>
            <a:r>
              <a:rPr lang="en-US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Django</a:t>
            </a:r>
            <a:endParaRPr lang="bg-BG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1" y="1491630"/>
            <a:ext cx="7881331" cy="29682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9349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b="1" cap="small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2.</a:t>
            </a:r>
            <a:r>
              <a:rPr lang="bg-BG" sz="3200" b="1" cap="small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Инсталиране </a:t>
            </a:r>
            <a:r>
              <a:rPr lang="bg-BG" sz="3200" b="1" cap="sm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стартиране на Django проект</a:t>
            </a:r>
          </a:p>
        </p:txBody>
      </p:sp>
      <p:pic>
        <p:nvPicPr>
          <p:cNvPr id="13" name="Content Placeholder 12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5959" y="1451373"/>
            <a:ext cx="5572083" cy="329207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71457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67544" y="627534"/>
            <a:ext cx="8229600" cy="1333846"/>
          </a:xfrm>
        </p:spPr>
        <p:txBody>
          <a:bodyPr>
            <a:normAutofit fontScale="90000"/>
          </a:bodyPr>
          <a:lstStyle/>
          <a:p>
            <a:r>
              <a:rPr lang="en-US" sz="4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bg-BG" sz="4400" b="1" cap="sm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Основни принципи на Django</a:t>
            </a:r>
            <a:r>
              <a:rPr lang="bg-BG" b="1" cap="small" dirty="0"/>
              <a:t/>
            </a:r>
            <a:br>
              <a:rPr lang="bg-BG" b="1" cap="small" dirty="0"/>
            </a:br>
            <a:endParaRPr lang="bg-BG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704" y="1383618"/>
            <a:ext cx="5256584" cy="264629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2602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38336" y="483518"/>
            <a:ext cx="8805664" cy="1909910"/>
          </a:xfrm>
        </p:spPr>
        <p:txBody>
          <a:bodyPr>
            <a:normAutofit fontScale="90000"/>
          </a:bodyPr>
          <a:lstStyle/>
          <a:p>
            <a:r>
              <a:rPr lang="bg-BG" dirty="0" smtClean="0"/>
              <a:t/>
            </a:r>
            <a:br>
              <a:rPr lang="bg-BG" dirty="0" smtClean="0"/>
            </a:br>
            <a:r>
              <a:rPr lang="bg-BG" dirty="0"/>
              <a:t/>
            </a:r>
            <a:br>
              <a:rPr lang="bg-BG" dirty="0"/>
            </a:br>
            <a:r>
              <a:rPr lang="bg-BG" dirty="0" smtClean="0"/>
              <a:t/>
            </a:r>
            <a:br>
              <a:rPr lang="bg-BG" dirty="0" smtClean="0"/>
            </a:br>
            <a:r>
              <a:rPr lang="bg-BG" dirty="0"/>
              <a:t/>
            </a:r>
            <a:br>
              <a:rPr lang="bg-BG" dirty="0"/>
            </a:br>
            <a:r>
              <a:rPr lang="bg-BG" dirty="0" smtClean="0"/>
              <a:t/>
            </a:r>
            <a:br>
              <a:rPr lang="bg-BG" dirty="0" smtClean="0"/>
            </a:br>
            <a:r>
              <a:rPr lang="bg-BG" b="1" cap="small" dirty="0"/>
              <a:t/>
            </a:r>
            <a:br>
              <a:rPr lang="bg-BG" b="1" cap="small" dirty="0"/>
            </a:br>
            <a:r>
              <a:rPr lang="bg-BG" sz="4000" b="1" cap="small" dirty="0" smtClean="0"/>
              <a:t>                                                             </a:t>
            </a:r>
            <a:r>
              <a:rPr lang="ru-RU" sz="4000" b="1" cap="small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sz="4000" b="1" cap="small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ru-RU" sz="4000" b="1" cap="small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</a:t>
            </a:r>
            <a:r>
              <a:rPr lang="ru-RU" sz="4000" b="1" cap="sm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Django проект и приложения</a:t>
            </a:r>
            <a:r>
              <a:rPr lang="ru-RU" b="1" cap="small" dirty="0"/>
              <a:t/>
            </a:r>
            <a:br>
              <a:rPr lang="ru-RU" b="1" cap="small" dirty="0"/>
            </a:br>
            <a:endParaRPr lang="bg-BG" dirty="0"/>
          </a:p>
        </p:txBody>
      </p:sp>
      <p:pic>
        <p:nvPicPr>
          <p:cNvPr id="2051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205" y="1689895"/>
            <a:ext cx="7449590" cy="28150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23863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11560" y="483518"/>
            <a:ext cx="8229600" cy="1549870"/>
          </a:xfrm>
        </p:spPr>
        <p:txBody>
          <a:bodyPr>
            <a:normAutofit/>
          </a:bodyPr>
          <a:lstStyle/>
          <a:p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6.</a:t>
            </a:r>
            <a:r>
              <a:rPr lang="bg-BG" sz="4000" b="1" cap="sm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Административен панел</a:t>
            </a:r>
            <a:r>
              <a:rPr lang="bg-BG" b="1" cap="small" dirty="0"/>
              <a:t/>
            </a:r>
            <a:br>
              <a:rPr lang="bg-BG" b="1" cap="small" dirty="0"/>
            </a:br>
            <a:endParaRPr lang="bg-BG" dirty="0"/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1" y="1491630"/>
            <a:ext cx="7154273" cy="275430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684665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39552" y="123478"/>
            <a:ext cx="8229600" cy="2125934"/>
          </a:xfrm>
        </p:spPr>
        <p:txBody>
          <a:bodyPr>
            <a:normAutofit/>
          </a:bodyPr>
          <a:lstStyle/>
          <a:p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7.</a:t>
            </a:r>
            <a:r>
              <a:rPr lang="bg-BG" sz="4000" b="1" cap="sm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Работа със статични файлове и медия</a:t>
            </a:r>
            <a:br>
              <a:rPr lang="bg-BG" sz="4000" b="1" cap="small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bg-BG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363" y="1604158"/>
            <a:ext cx="7335274" cy="2986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5438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11560" y="411510"/>
            <a:ext cx="8075240" cy="857250"/>
          </a:xfrm>
        </p:spPr>
        <p:txBody>
          <a:bodyPr>
            <a:normAutofit/>
          </a:bodyPr>
          <a:lstStyle/>
          <a:p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8.</a:t>
            </a:r>
            <a:r>
              <a:rPr lang="bg-BG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Сигурност на 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Django</a:t>
            </a:r>
            <a:endParaRPr lang="bg-BG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5959" y="1451373"/>
            <a:ext cx="5572083" cy="329207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9794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9.</a:t>
            </a:r>
            <a:r>
              <a:rPr lang="bg-BG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Работа с база данни</a:t>
            </a:r>
            <a:endParaRPr lang="bg-BG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Content Placeholder 5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91599" y="1451373"/>
            <a:ext cx="7960802" cy="3292078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58325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1563638"/>
            <a:ext cx="8305800" cy="936104"/>
          </a:xfrm>
          <a:effectLst>
            <a:glow rad="101600">
              <a:schemeClr val="accent1">
                <a:satMod val="175000"/>
                <a:alpha val="40000"/>
              </a:schemeClr>
            </a:glow>
          </a:effectLst>
        </p:spPr>
        <p:txBody>
          <a:bodyPr>
            <a:normAutofit/>
          </a:bodyPr>
          <a:lstStyle/>
          <a:p>
            <a:pPr algn="ctr"/>
            <a:r>
              <a:rPr lang="bg-BG" sz="4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Благодаря Ви за вниманието! </a:t>
            </a:r>
            <a:endParaRPr lang="bg-BG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771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low">
  <a:themeElements>
    <a:clrScheme name="Flow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Flow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alpha val="48000"/>
                <a:satMod val="105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alpha val="48000"/>
                <a:satMod val="105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alpha val="48000"/>
                <a:satMod val="105000"/>
              </a:scheme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124</TotalTime>
  <Words>598</Words>
  <Application>Microsoft Office PowerPoint</Application>
  <PresentationFormat>On-screen Show (16:9)</PresentationFormat>
  <Paragraphs>57</Paragraphs>
  <Slides>10</Slides>
  <Notes>10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Flow</vt:lpstr>
      <vt:lpstr>Държавен изпит за придобиване на трета степен на професионална квалификация – част по теория на професията по професия код 481030 ,, Приложен програмист‘‘ специалност код 4810301 ,,Приложно програмиране‘‘</vt:lpstr>
      <vt:lpstr>1.Въведение в Django</vt:lpstr>
      <vt:lpstr>2.Инсталиране и стартиране на Django проект</vt:lpstr>
      <vt:lpstr>3. Основни принципи на Django </vt:lpstr>
      <vt:lpstr>                                                                   5.Структура на Django проект и приложения </vt:lpstr>
      <vt:lpstr>6. Административен панел </vt:lpstr>
      <vt:lpstr>7. Работа със статични файлове и медия </vt:lpstr>
      <vt:lpstr>8. Сигурност на Django</vt:lpstr>
      <vt:lpstr>9.Работа с база данни</vt:lpstr>
      <vt:lpstr>Благодаря Ви за вниманието!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Държавен изпит за придобиване на трета степен на професионална квалификация – част по теория на професиятая</dc:title>
  <dc:creator>Admin</dc:creator>
  <cp:lastModifiedBy>Admin</cp:lastModifiedBy>
  <cp:revision>11</cp:revision>
  <dcterms:created xsi:type="dcterms:W3CDTF">2025-05-09T07:15:43Z</dcterms:created>
  <dcterms:modified xsi:type="dcterms:W3CDTF">2025-05-15T10:07:24Z</dcterms:modified>
</cp:coreProperties>
</file>